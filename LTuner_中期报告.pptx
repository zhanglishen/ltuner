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1828800"/>
          </a:xfrm>
          <a:prstGeom prst="rect">
            <a:avLst/>
          </a:prstGeom>
          <a:solidFill>
            <a:srgbClr val="16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LTuner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CCFF"/>
                </a:solidFill>
              </a:rPr>
              <a:t>基于大语言模型自省式反馈的 PostgreSQL 参数智能调优系统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8AADD"/>
                </a:solidFill>
              </a:rPr>
              <a:t>─── 中期进展报告 ───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799BB"/>
                </a:solidFill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研究背景与动机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Why LTuner?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39496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39496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❌  现有方案的局限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51206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人工调优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1226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依赖专家经验，门槛高、不可复制，难以在不同系统间迁移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44952"/>
            <a:ext cx="51206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136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传统BO（GPTuner）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盲目随机采样 → 80% 配置崩溃
需要 70 轮迭代，效率低下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70832"/>
            <a:ext cx="51206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4622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高算力依赖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76402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现有LLM方案需高端GPU
普通云服务器无法部署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143000"/>
            <a:ext cx="594360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143000"/>
            <a:ext cx="5943600" cy="43891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17043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 LTuner 的创新定位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7190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🔹 自省式反馈替代BO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39112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LLM分析因果关系，生成"文本梯度"
11轮精准收敛，无盲目采样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0449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�� 轻量级部署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364992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Qwen-plus API调用，无需本地GPU
普通4核8G服务器可运行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708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🔹 零崩溃保障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690872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SPC三智能体值域剪枝
+ 规则引擎安全红线校验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6967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🔹 全流程可视化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6016752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Streamlit Web界面，实时监控
调优过程与参数对比曲线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基线系统：GPTuner（VLDB 2024）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本课题以 GPTuner 为基线，用自省式反馈引擎替换其核心贝叶斯优化模块</a:t>
            </a:r>
          </a:p>
        </p:txBody>
      </p:sp>
      <p:pic>
        <p:nvPicPr>
          <p:cNvPr id="6" name="Picture 5" descr="gptun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LTuner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场景感知 → RAG检索 → MoE参数筛选 → SPC剪枝 → 自省反馈迭代 → 最优配置输出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1965960" cy="1097280"/>
          </a:xfrm>
          <a:prstGeom prst="rect">
            <a:avLst/>
          </a:prstGeom>
          <a:solidFill>
            <a:srgbClr val="27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124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PostgreSQL
实时监控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727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EEFF"/>
                </a:solidFill>
              </a:rPr>
              <a:t>采集QPS/缓存/IO
/连接数指标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1965960" cy="1097280"/>
          </a:xfrm>
          <a:prstGeom prst="rect">
            <a:avLst/>
          </a:prstGeom>
          <a:solidFill>
            <a:srgbClr val="27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124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场景分类引擎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5727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EEFF"/>
                </a:solidFill>
              </a:rPr>
              <a:t>识别OLTP/OLAP
/混合负载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097280"/>
            <a:ext cx="1965960" cy="1097280"/>
          </a:xfrm>
          <a:prstGeom prst="rect">
            <a:avLst/>
          </a:prstGeom>
          <a:solidFill>
            <a:srgbClr val="27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124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RAG知识库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5727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EEFF"/>
                </a:solidFill>
              </a:rPr>
              <a:t>153个文档
FAISS语义检索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097280"/>
            <a:ext cx="1965960" cy="1097280"/>
          </a:xfrm>
          <a:prstGeom prst="rect">
            <a:avLst/>
          </a:prstGeom>
          <a:solidFill>
            <a:srgbClr val="27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124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MoE多专家系统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5727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EEFF"/>
                </a:solidFill>
              </a:rPr>
              <a:t>7类子领域评估器
动态Top-K筛选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1097280"/>
            <a:ext cx="1965960" cy="1097280"/>
          </a:xfrm>
          <a:prstGeom prst="rect">
            <a:avLst/>
          </a:prstGeom>
          <a:solidFill>
            <a:srgbClr val="27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124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SPC值域剪枝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57276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EEFF"/>
                </a:solidFill>
              </a:rPr>
              <a:t>三智能体协同
安全范围约束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1545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1545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545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7" y="1545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359152"/>
            <a:ext cx="11795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2359152"/>
            <a:ext cx="11795760" cy="384048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38658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⭐  核心创新：自省式反馈调优引擎（Self-Reflective Tuning Engine）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34640"/>
            <a:ext cx="2103120" cy="14630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834640"/>
            <a:ext cx="21031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28529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① 应用配置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59" y="321868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ALTER SYSTEM SET
参数写入 + DB重启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3456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6A2C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2834640"/>
            <a:ext cx="2103120" cy="14630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97480" y="2834640"/>
            <a:ext cx="21031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28529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② BenchBase压测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21868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TPC-H 22条SQL
超时=180s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456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6A2C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2834640"/>
            <a:ext cx="2103120" cy="14630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74920" y="2834640"/>
            <a:ext cx="21031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28529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③ 采集性能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321868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summary.json
总延迟/吞吐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3456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6A2C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2834640"/>
            <a:ext cx="2103120" cy="14630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52360" y="2834640"/>
            <a:ext cx="21031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0" y="28529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④ LLM自省分析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0" y="321868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分析参数↔性能因果
生成"文本梯度"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456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6A2C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2834640"/>
            <a:ext cx="2103120" cy="146304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29800" y="2834640"/>
            <a:ext cx="21031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0" y="28529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⑤ 下轮配置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321868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精准方向调整
收敛即停止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4074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A2C"/>
                </a:solidFill>
              </a:rPr>
              <a:t>↩ 迭代循环直至：连续无改善 OR 性能变化 &lt; 0.5%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892040"/>
            <a:ext cx="2697480" cy="15544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4892040"/>
            <a:ext cx="2697480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59" y="4910328"/>
            <a:ext cx="2606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辅助模块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59" y="5230368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规则引擎 / 参数安全校验 / 冲突检测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46120" y="4892040"/>
            <a:ext cx="2697480" cy="15544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46120" y="4892040"/>
            <a:ext cx="2697480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0" y="4910328"/>
            <a:ext cx="2606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知识库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5230368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153个文档 · Sentence-BERT · FAISS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4892040"/>
            <a:ext cx="2697480" cy="15544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4892040"/>
            <a:ext cx="2697480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4910328"/>
            <a:ext cx="2606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输出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230368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最优配置 · 调优报告 · 性能对比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4892040"/>
            <a:ext cx="2697480" cy="15544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98280" y="4892040"/>
            <a:ext cx="2697480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4910328"/>
            <a:ext cx="2606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Web界面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5230368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Streamlit · 实时监控 · 历史记录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已完成工作概览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系统开发与实验验证已基本完成，覆盖全部核心功能模块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11704320" cy="804672"/>
          </a:xfrm>
          <a:prstGeom prst="rect">
            <a:avLst/>
          </a:prstGeom>
          <a:solidFill>
            <a:srgbClr val="E8F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164592" cy="8046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48"/>
                </a:solidFill>
              </a:rPr>
              <a:t>✅ 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1247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</a:rPr>
              <a:t>阿里云ECS · Ubuntu 22.04 · PostgreSQL 14.20 · BenchBase 编译完成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49047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GPTuner基线复现，端到端流程验证通过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11680"/>
            <a:ext cx="11704320" cy="804672"/>
          </a:xfrm>
          <a:prstGeom prst="rect">
            <a:avLst/>
          </a:prstGeom>
          <a:solidFill>
            <a:srgbClr val="E8F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011680"/>
            <a:ext cx="164592" cy="8046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39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48"/>
                </a:solidFill>
              </a:rPr>
              <a:t>✅ RAG知识库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0391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</a:rPr>
              <a:t>153个知识文档 · Sentence-BERT向量编码 · FAISS索引(562KB)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40487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毫秒级语义检索，覆盖官方手册/社区案例/Tuning Lake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26080"/>
            <a:ext cx="11704320" cy="804672"/>
          </a:xfrm>
          <a:prstGeom prst="rect">
            <a:avLst/>
          </a:prstGeom>
          <a:solidFill>
            <a:srgbClr val="E8F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926080"/>
            <a:ext cx="164592" cy="8046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535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48"/>
                </a:solidFill>
              </a:rPr>
              <a:t>✅ LTuner核心引擎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9535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</a:rPr>
              <a:t>6大模块：特征翻译·因果图谱·MoE专家·SPC剪枝·自省引擎·编排器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31927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自适应收敛控制，零崩溃配置保障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40480"/>
            <a:ext cx="11704320" cy="804672"/>
          </a:xfrm>
          <a:prstGeom prst="rect">
            <a:avLst/>
          </a:prstGeom>
          <a:solidFill>
            <a:srgbClr val="E8F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840480"/>
            <a:ext cx="164592" cy="8046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679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48"/>
                </a:solidFill>
              </a:rPr>
              <a:t>✅ 辅助模块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8679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</a:rPr>
              <a:t>规则引擎·场景分类·实时监控·Web可视化界面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23367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Streamlit多页面：监控/调优/对比实验/历史记录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754880"/>
            <a:ext cx="11704320" cy="804672"/>
          </a:xfrm>
          <a:prstGeom prst="rect">
            <a:avLst/>
          </a:prstGeom>
          <a:solidFill>
            <a:srgbClr val="E8F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754880"/>
            <a:ext cx="164592" cy="8046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823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48"/>
                </a:solidFill>
              </a:rPr>
              <a:t>✅ 对比实验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7823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</a:rPr>
              <a:t>TPC-H OLAP场景，GPTuner(70轮) vs LTuner(11轮)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14807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自动生成5张可视化图表，验证完成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669280"/>
            <a:ext cx="11704320" cy="80467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5669280"/>
            <a:ext cx="164592" cy="804672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6967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A2C"/>
                </a:solidFill>
              </a:rPr>
              <a:t>🔄 待完成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967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</a:rPr>
              <a:t>TPC-C OLTP场景实验 · 毕业论文撰写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606247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计划八学期3-8周完成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实验结果：收敛过程对比（TPC-H，SF=0.01，OLAP场景）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LTuner 11轮即收敛到最优 | GPTuner 70轮仍未超越基线 | 基线延迟 66,243 μs</a:t>
            </a:r>
          </a:p>
        </p:txBody>
      </p:sp>
      <p:pic>
        <p:nvPicPr>
          <p:cNvPr id="6" name="Picture 5" descr="real_tpch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实验结果：性能提升 与 调优效率对比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LTuner: +7.8% 改善 / 6分钟 / 11轮   |   GPTuner: -3.9% 恶化 / 14分钟 / 70轮</a:t>
            </a:r>
          </a:p>
        </p:txBody>
      </p:sp>
      <p:pic>
        <p:nvPicPr>
          <p:cNvPr id="6" name="Picture 5" descr="real_tpch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5943600" cy="5029200"/>
          </a:xfrm>
          <a:prstGeom prst="rect">
            <a:avLst/>
          </a:prstGeom>
        </p:spPr>
      </p:pic>
      <p:pic>
        <p:nvPicPr>
          <p:cNvPr id="7" name="Picture 6" descr="real_tpch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8521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实验结果：配置安全性对比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GPTuner 崩溃率 80%（56/70）| LTuner 崩溃率 0%（0/11）</a:t>
            </a:r>
          </a:p>
        </p:txBody>
      </p:sp>
      <p:pic>
        <p:nvPicPr>
          <p:cNvPr id="6" name="Picture 5" descr="real_tpch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5806440"/>
            <a:ext cx="5303520" cy="7772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83387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GPTuner：56次崩溃 / 70轮（80%）
SMAC盲目采样，频繁触发非法配置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5806440"/>
            <a:ext cx="5303520" cy="777240"/>
          </a:xfrm>
          <a:prstGeom prst="rect">
            <a:avLst/>
          </a:prstGeom>
          <a:solidFill>
            <a:srgbClr val="E8F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583387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8648"/>
                </a:solidFill>
              </a:rPr>
              <a:t>LTuner：0次崩溃 / 11轮（0%）
SPC剪枝 + 规则引擎双重保障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综合实验对比仪表盘（TPC-H OLAP）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四维度全面对比：收敛曲线 · 性能改善 · 调优耗时 · 崩溃次数</a:t>
            </a:r>
          </a:p>
        </p:txBody>
      </p:sp>
      <p:pic>
        <p:nvPicPr>
          <p:cNvPr id="6" name="Picture 5" descr="real_tpch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存在的问题与后续计划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557784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5577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⚠  当前存在的问题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3492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① API调用延迟波动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20824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每轮调优多次LLM调用
存在网络延迟不稳定
→ 优化Prompt结构减少调用次数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17520"/>
            <a:ext cx="53492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1089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② 实验场景覆盖有限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438144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目前仅完成TPC-H（OLAP）
未覆盖TPC-C（OLTP）
→ 补充OLTP场景实验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434840"/>
            <a:ext cx="53492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5262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③ 参数联动建模不足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55464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因果图谱基于静态知识
动态交互效应建模欠精确
→ 增强自省反馈中联动分析提示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97280"/>
            <a:ext cx="566928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5669280" cy="384048"/>
          </a:xfrm>
          <a:prstGeom prst="rect">
            <a:avLst/>
          </a:prstGeom>
          <a:solidFill>
            <a:srgbClr val="27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155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📅  后续计划（八学期3-8周）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00200"/>
            <a:ext cx="5486400" cy="12801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600200"/>
            <a:ext cx="5486400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6184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八学期3-4周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9659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提升数据集规模（SF=0.1）
运行更大负载实验，增强结果可信度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63240"/>
            <a:ext cx="5486400" cy="12801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486400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815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八学期5-6周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290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TPC-C OLTP场景实验
补充高并发事务场景对比数据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526280"/>
            <a:ext cx="5486400" cy="12801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526280"/>
            <a:ext cx="5486400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544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八学期7-8周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920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撰写论文核心章节
系统设计章节 + 实验分析章节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6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总  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743200" cy="3840480"/>
          </a:xfrm>
          <a:prstGeom prst="rect">
            <a:avLst/>
          </a:prstGeom>
          <a:solidFill>
            <a:srgbClr val="22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调优效果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57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C44"/>
                </a:solidFill>
              </a:rPr>
              <a:t>LTuner +7.8%  vs  GPTuner -3.9%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DDFF"/>
                </a:solidFill>
              </a:rPr>
              <a:t>延迟从 66,243→61,083 μs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463040"/>
            <a:ext cx="2743200" cy="3840480"/>
          </a:xfrm>
          <a:prstGeom prst="rect">
            <a:avLst/>
          </a:prstGeom>
          <a:solidFill>
            <a:srgbClr val="22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收敛效率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057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C44"/>
                </a:solidFill>
              </a:rPr>
              <a:t>11轮 vs 70轮，减少 84.3%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DDFF"/>
                </a:solidFill>
              </a:rPr>
              <a:t>6分钟 vs 14分钟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463040"/>
            <a:ext cx="2743200" cy="3840480"/>
          </a:xfrm>
          <a:prstGeom prst="rect">
            <a:avLst/>
          </a:prstGeom>
          <a:solidFill>
            <a:srgbClr val="22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安全性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2057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C44"/>
                </a:solidFill>
              </a:rPr>
              <a:t>崩溃率 0%  vs  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DDFF"/>
                </a:solidFill>
              </a:rPr>
              <a:t>SPC剪枝+规则引擎双保障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463040"/>
            <a:ext cx="2743200" cy="3840480"/>
          </a:xfrm>
          <a:prstGeom prst="rect">
            <a:avLst/>
          </a:prstGeom>
          <a:solidFill>
            <a:srgbClr val="22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508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创新点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057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C44"/>
                </a:solidFill>
              </a:rPr>
              <a:t>自省式反馈替代贝叶斯优化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DDFF"/>
                </a:solidFill>
              </a:rPr>
              <a:t>首次引入文本梯度调优机制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ACCFF"/>
                </a:solidFill>
              </a:rPr>
              <a:t>感谢导师和各位老师的指导！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799BB"/>
                </a:solidFill>
              </a:rPr>
              <a:t>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